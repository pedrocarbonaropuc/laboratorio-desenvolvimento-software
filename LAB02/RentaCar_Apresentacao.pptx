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34095" y="-1371600"/>
            <a:ext cx="5486400" cy="5486400"/>
          </a:xfrm>
          <a:prstGeom prst="ellipse">
            <a:avLst/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91295" y="-914400"/>
            <a:ext cx="4572000" cy="4572000"/>
          </a:xfrm>
          <a:prstGeom prst="ellipse">
            <a:avLst/>
          </a:prstGeom>
          <a:solidFill>
            <a:srgbClr val="222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5A623"/>
                </a:solidFill>
                <a:latin typeface="Calibri"/>
              </a:defRPr>
            </a:pPr>
            <a:r>
              <a:t>RentaCar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423160"/>
            <a:ext cx="22860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Calibri"/>
              </a:defRPr>
            </a:pPr>
            <a:r>
              <a:t>Plataforma Inteligente de Locação de Veículos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Sistema completo para gestão de aluguéis com análise financeira,</a:t>
            </a:r>
            <a:br/>
            <a:r>
              <a:t>contratos de crédito e arquitetura reativa moderna.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572000"/>
            <a:ext cx="818388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584700"/>
            <a:ext cx="8183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A623"/>
                </a:solidFill>
                <a:latin typeface="Calibri"/>
              </a:defRPr>
            </a:pPr>
            <a:r>
              <a:t>Java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2828" y="4572000"/>
            <a:ext cx="1284732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2828" y="4584700"/>
            <a:ext cx="12847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A623"/>
                </a:solidFill>
                <a:latin typeface="Calibri"/>
              </a:defRPr>
            </a:pPr>
            <a:r>
              <a:t>Micronaut 4.7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4572000"/>
            <a:ext cx="973836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4584700"/>
            <a:ext cx="9738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A623"/>
                </a:solidFill>
                <a:latin typeface="Calibri"/>
              </a:defRPr>
            </a:pPr>
            <a:r>
              <a:t>MongoDB 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85716" y="4572000"/>
            <a:ext cx="896112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5716" y="4584700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A623"/>
                </a:solidFill>
                <a:latin typeface="Calibri"/>
              </a:defRPr>
            </a:pPr>
            <a:r>
              <a:t>React 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18988" y="4572000"/>
            <a:ext cx="105156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18988" y="45847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A623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07708" y="4572000"/>
            <a:ext cx="1129284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07708" y="4584700"/>
            <a:ext cx="11292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A623"/>
                </a:solidFill>
                <a:latin typeface="Calibri"/>
              </a:defRPr>
            </a:pPr>
            <a:r>
              <a:t>TailwindCSS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4152" y="4572000"/>
            <a:ext cx="740664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74152" y="4584700"/>
            <a:ext cx="740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A623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Laboratório de Desenvolvimento de Software  • 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64592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A623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503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Visão Geral do Sistema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71907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Escopo, objetivos e funcionalidades principais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A623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9532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Arquitetura de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2219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Padrões arquiteturais e decisões de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A623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561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Micronaut vs Spring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72491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Diferenças, vantagens e experiência de desenvolvimento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A623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9591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Stack Tecnológica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2278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Backend, Frontend, Banco de Dados e Infraestrutura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74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A623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4620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Modelo de Domínio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7307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Entidades, relacionamentos e regras de negócio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77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A623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9649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Casos de Uso &amp; Fluxos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23367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Histórias de usuário e jornadas do sistema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805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A623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4678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API REST &amp; Segurança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73659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Endpoints, autenticação JWT e controle de acesso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983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A623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9707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Interface do Usuário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23951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Páginas, componentes e experiência do usuário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486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A623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4737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Testes de Carga Reativos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7424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Comparativo Sync vs Reactive em tempo real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989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A623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9766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Deploy &amp; Infraestrutura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624535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Docker, AWS e estratégia de implantação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Visão Geral do Sistema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O RentaCar é uma plataforma completa de locação de veículos com três perfis de usuário distintos,</a:t>
            </a:r>
            <a:br/>
            <a:r>
              <a:t>fluxo completo de pedidos com análise financeira e contratos de crédito.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47472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Cliente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743200"/>
            <a:ext cx="10972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8036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Cadastro com até 3 empregadores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Catálogo de veículos disponíveis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Solicitação de pedidos de aluguel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Acompanhamento de status em tempo real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Edição e cancelamento de pedidos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194560"/>
            <a:ext cx="347472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377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  <a:latin typeface="Calibri"/>
              </a:defRPr>
            </a:pPr>
            <a:r>
              <a:t>Agente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2743200"/>
            <a:ext cx="109728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88036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Gestão completa de veículos (CRUD)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Análise financeira de pedidos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Aprovação/rejeição de solicitações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Criação de contratos de crédito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Modificação de pedidos pendentes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94560"/>
            <a:ext cx="3474720" cy="3840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377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Administrador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2743200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880360"/>
            <a:ext cx="2926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Dashboard com métricas do sistema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Visualização de todos os usuários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Detalhes de clientes e agentes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Exclusão de usuários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Testes de carga Sync vs Reactive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217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A623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Histórias de Usuário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6217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A623"/>
                </a:solidFill>
                <a:latin typeface="Calibri"/>
              </a:defRPr>
            </a:pPr>
            <a:r>
              <a:t>108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64922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Story 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6217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A623"/>
                </a:solidFill>
                <a:latin typeface="Calibri"/>
              </a:defRPr>
            </a:pPr>
            <a:r>
              <a:t>24+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64922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Endpoints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62179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A62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64922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Perfis de Acesso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Arquitetura de Software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0" y="594360"/>
            <a:ext cx="1595628" cy="27432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607060"/>
            <a:ext cx="15956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SEÇÃO OBRIGATÓRIA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Arquitetura em 3 Camadas (Three-Tier)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300" b="0">
                <a:solidFill>
                  <a:srgbClr val="CBD5E1"/>
                </a:solidFill>
                <a:latin typeface="Calibri"/>
              </a:defRPr>
            </a:pPr>
            <a:r>
              <a:t>O sistema segue o padrão arquitetural de três camadas com separação clara</a:t>
            </a:r>
            <a:br/>
            <a:r>
              <a:t>de responsabilidades, comunicação via REST API e persistência em NoSQL.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F5A623"/>
                </a:solidFill>
                <a:latin typeface="Calibri"/>
              </a:defRPr>
            </a:pPr>
            <a:r>
              <a:t>Padrões Aplicados: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MVC (Model-View-Controller) no backend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Repository Pattern para acesso a dados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DTO Pattern para transferência de dados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Singleton Pattern via IoC Container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Observer Pattern (Event-Driven) para seeding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Strategy Pattern nos testes de carga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371600"/>
            <a:ext cx="4572000" cy="118872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  <a:latin typeface="Calibri"/>
              </a:defRPr>
            </a:pPr>
            <a:r>
              <a:t>CAMADA DE APRESENTAÇÃO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783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React 18 + TypeScript + TailwindCSS</a:t>
            </a:r>
            <a:br/>
            <a:r>
              <a:t>Vite • React Router • Axios • Contexts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▼  REST API + JWT  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2926080"/>
            <a:ext cx="4572000" cy="1371600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78BFA"/>
                </a:solidFill>
                <a:latin typeface="Calibri"/>
              </a:defRPr>
            </a:pPr>
            <a:r>
              <a:t>CAMADA DE NEGÓCIOS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3375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Micronaut 4.7 • Java 21</a:t>
            </a:r>
            <a:br/>
            <a:r>
              <a:t>Controllers → Services → Repositories</a:t>
            </a:r>
            <a:br/>
            <a:r>
              <a:t>JWT Security • Bean Validation • Reactive Streams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▼  Reactive Streams Driver  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4663440"/>
            <a:ext cx="4572000" cy="1097280"/>
          </a:xfrm>
          <a:prstGeom prst="roundRect">
            <a:avLst/>
          </a:prstGeom>
          <a:solidFill>
            <a:srgbClr val="15803D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2C55E"/>
                </a:solidFill>
                <a:latin typeface="Calibri"/>
              </a:defRPr>
            </a:pPr>
            <a:r>
              <a:t>CAMADA DE DADOS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074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MongoDB 7 (NoSQL Document Store)</a:t>
            </a:r>
            <a:br/>
            <a:r>
              <a:t>4 Collections • Embedded Objects • Indexes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Decisões Arquiteturais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Modelo Unificado de Usuário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828800"/>
            <a:ext cx="9144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Entidade User única com diferenciação por campo role.</a:t>
            </a:r>
            <a:br/>
            <a:r>
              <a:t>Evita herança complexa no MongoDB e simplifica queries.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292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A623"/>
                </a:solidFill>
                <a:latin typeface="Calibri"/>
              </a:defRPr>
            </a:pPr>
            <a:r>
              <a:t>Objetos Embutidos (Embedded)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1828800"/>
            <a:ext cx="9144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965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Address, Employer e FinancialAnalysis armazenados</a:t>
            </a:r>
            <a:br/>
            <a:r>
              <a:t>dentro do documento pai. Desnormalização otimizada.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71800"/>
            <a:ext cx="50292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JWT Stateless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429000"/>
            <a:ext cx="9144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5661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Autenticação sem sessão no servidor. Token gerado com</a:t>
            </a:r>
            <a:br/>
            <a:r>
              <a:t>JJWT, validado a cada request. Suporta multi-dispositivo.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71800"/>
            <a:ext cx="50292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Calibri"/>
              </a:defRPr>
            </a:pPr>
            <a:r>
              <a:t>SessionStorage por Aba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3429000"/>
            <a:ext cx="9144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5661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Token armazenado no sessionStorage do navegador.</a:t>
            </a:r>
            <a:br/>
            <a:r>
              <a:t>Permite múltiplas sessões independentes por aba.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72000"/>
            <a:ext cx="50292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B82F6"/>
                </a:solidFill>
                <a:latin typeface="Calibri"/>
              </a:defRPr>
            </a:pPr>
            <a:r>
              <a:t>Reactive Streams Opcional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5029200"/>
            <a:ext cx="9144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166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Micronaut Reactor para path non-blocking nos testes de</a:t>
            </a:r>
            <a:br/>
            <a:r>
              <a:t>carga. Demonstra programação reativa vs síncrona.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572000"/>
            <a:ext cx="5029200" cy="1371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A623"/>
                </a:solidFill>
                <a:latin typeface="Calibri"/>
              </a:defRPr>
            </a:pPr>
            <a:r>
              <a:t>MongoDB Reactive Driver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5029200"/>
            <a:ext cx="9144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51663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Calibri"/>
              </a:defRPr>
            </a:pPr>
            <a:r>
              <a:t>Driver reativo (reactive-streams) para acesso ao banco.</a:t>
            </a:r>
            <a:br/>
            <a:r>
              <a:t>Permite throughput superior em operações I/O-bound.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Micronaut vs Spring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74720" y="594360"/>
            <a:ext cx="1595628" cy="27432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607060"/>
            <a:ext cx="15956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SEÇÃO OBRIGATÓRIA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Diferenças técnicas e experiência de desenvolvimento ao utilizar Micronaut ao invés de Spring Boot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515600" cy="457200"/>
          </a:xfrm>
          <a:prstGeom prst="roundRect">
            <a:avLst/>
          </a:prstGeom>
          <a:solidFill>
            <a:srgbClr val="334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848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Aspecto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0848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Micronaut 4.7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0848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Spring Boot 3.x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14600"/>
            <a:ext cx="1051560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4203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alibri"/>
              </a:defRPr>
            </a:pPr>
            <a:r>
              <a:t>Injeção de Dependência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54203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Compile-time (AOT)</a:t>
            </a:r>
            <a:br/>
            <a:r>
              <a:t>Processamento em tempo de compilação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54203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Runtime (Reflection)</a:t>
            </a:r>
            <a:br/>
            <a:r>
              <a:t>Classpath scanning em runtime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35807"/>
            <a:ext cx="10515600" cy="521207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63239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alibri"/>
              </a:defRPr>
            </a:pPr>
            <a:r>
              <a:t>Tempo de Startup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063239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~800ms — Extremamente rápido</a:t>
            </a:r>
            <a:br/>
            <a:r>
              <a:t>Ideal para containers e serverless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063239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~3-5s — Mais lento</a:t>
            </a:r>
            <a:br/>
            <a:r>
              <a:t>Reflection pesada no boot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557014"/>
            <a:ext cx="1051560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58444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alibri"/>
              </a:defRPr>
            </a:pPr>
            <a:r>
              <a:t>Consumo de Memória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58444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~60-80MB — Footprint mínimo</a:t>
            </a:r>
            <a:br/>
            <a:r>
              <a:t>Sem proxies dinâmicos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58444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~150-300MB — Maior footprint</a:t>
            </a:r>
            <a:br/>
            <a:r>
              <a:t>Proxies e caches de reflection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078221"/>
            <a:ext cx="10515600" cy="521207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05653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alibri"/>
              </a:defRPr>
            </a:pPr>
            <a:r>
              <a:t>Controller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4105653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@Controller + @Get/@Post</a:t>
            </a:r>
            <a:br/>
            <a:r>
              <a:t>Annotações próprias e leves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105653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@RestController + @GetMapping</a:t>
            </a:r>
            <a:br/>
            <a:r>
              <a:t>Annotações consolidadas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599428"/>
            <a:ext cx="1051560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6268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alibri"/>
              </a:defRPr>
            </a:pPr>
            <a:r>
              <a:t>Segurança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0" y="46268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@Secured({"ROLE"})</a:t>
            </a:r>
            <a:br/>
            <a:r>
              <a:t>Declarativo e simples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46268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@PreAuthorize("hasRole()")</a:t>
            </a:r>
            <a:br/>
            <a:r>
              <a:t>SpEL expressions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120635"/>
            <a:ext cx="10515600" cy="521207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148067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alibri"/>
              </a:defRPr>
            </a:pPr>
            <a:r>
              <a:t>Escopo de Beans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5148067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@Singleton (padrão)</a:t>
            </a:r>
            <a:br/>
            <a:r>
              <a:t>Compile-time DI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5148067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@Component/@Service</a:t>
            </a:r>
            <a:br/>
            <a:r>
              <a:t>Runtime proxy-based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641842"/>
            <a:ext cx="1051560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66927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alibri"/>
              </a:defRPr>
            </a:pPr>
            <a:r>
              <a:t>Thread Management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566927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@ExecuteOn(TaskExecutors.IO)</a:t>
            </a:r>
            <a:br/>
            <a:r>
              <a:t>Controle explícito de pool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566927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Implícito via Servlet/WebFlux</a:t>
            </a:r>
            <a:br/>
            <a:r>
              <a:t>Menos controle granular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6163049"/>
            <a:ext cx="10515600" cy="521207"/>
          </a:xfrm>
          <a:prstGeom prst="rect">
            <a:avLst/>
          </a:prstGeom>
          <a:solidFill>
            <a:srgbClr val="16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6190481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alibri"/>
              </a:defRPr>
            </a:pPr>
            <a:r>
              <a:t>Reactive Support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6190481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Publisher&lt;&gt; / Flux&lt;&gt; nativo</a:t>
            </a:r>
            <a:br/>
            <a:r>
              <a:t>Integrado ao core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0" y="6190481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Mono&lt;&gt;/Flux&lt;&gt; via WebFlux</a:t>
            </a:r>
            <a:br/>
            <a:r>
              <a:t>Módulo separado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Sentimentos: Micronaut na Prática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54880" y="594360"/>
            <a:ext cx="1595628" cy="27432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607060"/>
            <a:ext cx="15956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SEÇÃO OBRIGATÓRIA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30352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✓  Pontos Positivos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920240"/>
            <a:ext cx="10972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Startup ultrarrápido (~800ms)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Container Docker sobe quase instantaneamente,</a:t>
            </a:r>
            <a:br/>
            <a:r>
              <a:t>permitindo ciclos de desenvolvimento ágeis.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Baixo consumo de memória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Ideal para ambientes cloud com cobrança por recurso.</a:t>
            </a:r>
            <a:br/>
            <a:r>
              <a:t>Footprint ~3x menor que Spring.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AOT Compilation nativa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Sem reflection em runtime = previsibilidade.</a:t>
            </a:r>
            <a:br/>
            <a:r>
              <a:t>Erros de DI detectados em compile-time.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Reactive de primeira classe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Publisher/Flux integrado naturalmente ao framework.</a:t>
            </a:r>
            <a:br/>
            <a:r>
              <a:t>SSE funciona sem configuração extra.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Annotations similares ao Spring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Curva de aprendizado suave para quem já</a:t>
            </a:r>
            <a:br/>
            <a:r>
              <a:t>conhece Spring. @Value, @Singleton, @Controller.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502920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5544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Calibri"/>
              </a:defRPr>
            </a:pPr>
            <a:r>
              <a:t>✗  Desafios Encontrados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920240"/>
            <a:ext cx="1097280" cy="381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05740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EF4444"/>
                </a:solidFill>
                <a:latin typeface="Calibri"/>
              </a:defRPr>
            </a:pPr>
            <a:r>
              <a:t>Ecossistema menor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Menos bibliotecas de terceiros e integrações</a:t>
            </a:r>
            <a:br/>
            <a:r>
              <a:t>pré-construídas comparado ao Spring.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EF4444"/>
                </a:solidFill>
                <a:latin typeface="Calibri"/>
              </a:defRPr>
            </a:pPr>
            <a:r>
              <a:t>Documentação menos abrangente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Stack Overflow e tutoriais mais escassos.</a:t>
            </a:r>
            <a:br/>
            <a:r>
              <a:t>É necessário consultar docs oficiais com frequência.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EF4444"/>
                </a:solidFill>
                <a:latin typeface="Calibri"/>
              </a:defRPr>
            </a:pPr>
            <a:r>
              <a:t>Comunidade menor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Menos respostas em fóruns. Debug de problemas</a:t>
            </a:r>
            <a:br/>
            <a:r>
              <a:t>específicos requer mais investigação independente.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EF4444"/>
                </a:solidFill>
                <a:latin typeface="Calibri"/>
              </a:defRPr>
            </a:pPr>
            <a:r>
              <a:t>Configuração de segurança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JWT setup manual mais verboso que Spring Security.</a:t>
            </a:r>
            <a:br/>
            <a:r>
              <a:t>Necessário implementar TokenValidator/Provider.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EF4444"/>
                </a:solidFill>
                <a:latin typeface="Calibri"/>
              </a:defRPr>
            </a:pPr>
            <a:r>
              <a:t>Micronaut Data MongoDB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Menos maduro que Spring Data MongoDB.</a:t>
            </a:r>
            <a:br/>
            <a:r>
              <a:t>Alguns recursos avançados requerem driver nativo.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Stack Tecnológica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011680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Java 21 (Eclipse Temurin)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Micronaut Framework 4.7.6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Micronaut Data MongoDB 4.10.5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Micronaut Security JWT 4.11.2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Micronaut Reactor 3.5.3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JJWT 0.12.5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BCrypt (jbcrypt 0.4)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Lombok 1.18.38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Bean Validation (Jakarta)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5A623"/>
                </a:solidFill>
                <a:latin typeface="Calibri"/>
              </a:defRPr>
            </a:pPr>
            <a:r>
              <a:t>8 Controllers  •  8 Services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5A623"/>
                </a:solidFill>
                <a:latin typeface="Calibri"/>
              </a:defRPr>
            </a:pPr>
            <a:r>
              <a:t>4 Repositories  •  5 Entities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011680"/>
            <a:ext cx="10972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1488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React 18 + TypeScript 5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Vite 5.x (Build Tool)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React Router 6.x (SPA Routing)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Axios (HTTP Client)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TailwindCSS 3.x (Utility CSS)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React Hook Form + Zod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Lucide React (Icons)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Racing Sans One (Tipografia)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5A623"/>
                </a:solidFill>
                <a:latin typeface="Calibri"/>
              </a:defRPr>
            </a:pPr>
            <a:r>
              <a:t>12 Páginas  •  15+ Componentes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5A623"/>
                </a:solidFill>
                <a:latin typeface="Calibri"/>
              </a:defRPr>
            </a:pPr>
            <a:r>
              <a:t>6 API Clients  •  2 Contexts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5A623"/>
                </a:solidFill>
                <a:latin typeface="Calibri"/>
              </a:defRPr>
            </a:pPr>
            <a:r>
              <a:t>Dark/Light Mode  •  Responsive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6459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Infraestrutura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011680"/>
            <a:ext cx="10972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148840"/>
            <a:ext cx="2834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Docker &amp; Cloud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Docker Compose (3 containers)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MongoDB 7 (NoSQL)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Nginx (reverse proxy)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AWS ECS Fargate (prod)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AWS DocumentDB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CloudFront CDN + TLS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Route53 DNS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ECR Image Registry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5A623"/>
                </a:solidFill>
                <a:latin typeface="Calibri"/>
              </a:defRPr>
            </a:pPr>
            <a:r>
              <a:t>Zero-downtime Deploy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F5A623"/>
                </a:solidFill>
                <a:latin typeface="Calibri"/>
              </a:defRPr>
            </a:pPr>
            <a:r>
              <a:t>Auto-scaling  •  Health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Modelo de Domínio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92608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011680"/>
            <a:ext cx="10972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id, email, password (BCrypt)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role: CLIENT | AGENT | ADMIN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CLIENT: name, rg, cpf, profession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CLIENT: employers[] (max 3), address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AGENT: companyName, cnpj, phone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ADMIN: name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createdAt, updatedAt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1463040"/>
            <a:ext cx="292608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645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Calibri"/>
              </a:defRPr>
            </a:pPr>
            <a:r>
              <a:t>Vehicle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011680"/>
            <a:ext cx="109728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148840"/>
            <a:ext cx="2377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id, registrationNumber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year, brand, model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licensePlate (unique)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ownerType: CLIENT|COMPANY|BANK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ownerId, dailyRate (R$)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available: boolean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463040"/>
            <a:ext cx="4389120" cy="27432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6459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  <a:latin typeface="Calibri"/>
              </a:defRPr>
            </a:pPr>
            <a:r>
              <a:t>RentalOrder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2011680"/>
            <a:ext cx="109728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14884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id, clientId, vehicleId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startDate, endDate, rentalDays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totalAmount = dailyRate × days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status: PENDING → UNDER_ANALYSIS → APPROVED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             → REJECTED | CANCELLED | ACTIVE → COMPLETED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financialAnalysis (embedded): agentId, approved, notes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creditContractId (optional)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0560"/>
            <a:ext cx="34747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6634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Calibri"/>
              </a:defRPr>
            </a:pPr>
            <a:r>
              <a:t>CreditContract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5029200"/>
            <a:ext cx="10972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1663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id, rentalOrderId, bankAgentId, clientId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amount, interestRate, installments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installmentAmount, 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4480560"/>
            <a:ext cx="301752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4663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  <a:latin typeface="Calibri"/>
              </a:defRPr>
            </a:pPr>
            <a:r>
              <a:t>Address (Value Object)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5029200"/>
            <a:ext cx="109728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51663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street, number, complement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neighborhood, city, state, zipCode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Embedded em User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4480560"/>
            <a:ext cx="3749039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4663440"/>
            <a:ext cx="32003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4A3B8"/>
                </a:solidFill>
                <a:latin typeface="Calibri"/>
              </a:defRPr>
            </a:pPr>
            <a:r>
              <a:t>Employer (Value Object)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5029200"/>
            <a:ext cx="1097280" cy="381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0" y="5166360"/>
            <a:ext cx="320039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name, phone, income (R$)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Embedded em User (max 3)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BD5E1"/>
                </a:solidFill>
                <a:latin typeface="Calibri"/>
              </a:defRPr>
            </a:pPr>
            <a:r>
              <a:t>  •  Usado na análise financeira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Fluxo do Pedido de Aluguel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9202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A623"/>
                </a:solidFill>
                <a:latin typeface="Calibri"/>
              </a:defRPr>
            </a:pPr>
            <a:r>
              <a:t>PENDING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alibri"/>
              </a:defRPr>
            </a:pPr>
            <a:r>
              <a:t>Cliente cria</a:t>
            </a:r>
            <a:br/>
            <a:r>
              <a:t>o pedido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828800"/>
            <a:ext cx="19202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920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B82F6"/>
                </a:solidFill>
                <a:latin typeface="Calibri"/>
              </a:defRPr>
            </a:pPr>
            <a:r>
              <a:t>UNDER</a:t>
            </a:r>
            <a:br/>
            <a:r>
              <a:t>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468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alibri"/>
              </a:defRPr>
            </a:pPr>
            <a:r>
              <a:t>Agente inicia</a:t>
            </a:r>
            <a:br/>
            <a:r>
              <a:t>análise financeira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828800"/>
            <a:ext cx="19202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920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Calibri"/>
              </a:defRPr>
            </a:pPr>
            <a:r>
              <a:t>APPROVED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468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alibri"/>
              </a:defRPr>
            </a:pPr>
            <a:r>
              <a:t>Agente aprova</a:t>
            </a:r>
            <a:br/>
            <a:r>
              <a:t>com contrato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828800"/>
            <a:ext cx="19202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920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Calibri"/>
              </a:defRPr>
            </a:pPr>
            <a:r>
              <a:t>ACTIVE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468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alibri"/>
              </a:defRPr>
            </a:pPr>
            <a:r>
              <a:t>Contrato de crédito</a:t>
            </a:r>
            <a:br/>
            <a:r>
              <a:t>em vigência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828800"/>
            <a:ext cx="192024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920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Calibri"/>
              </a:defRPr>
            </a:pPr>
            <a:r>
              <a:t>COMPLETED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468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alibri"/>
              </a:defRPr>
            </a:pPr>
            <a:r>
              <a:t>Período do aluguel</a:t>
            </a:r>
            <a:br/>
            <a:r>
              <a:t>finalizado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474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Fluxos Alternativos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794760"/>
            <a:ext cx="13716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4023360"/>
            <a:ext cx="973836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036060"/>
            <a:ext cx="9738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CANCELLED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62556" y="40233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Cliente pode cancelar pedidos PENDING ou UNDER_ANALYSIS a qualquer momento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434840"/>
            <a:ext cx="896112" cy="2743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447540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REJECTED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84832" y="4434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Agente pode rejeitar após análise financeira negativa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846320"/>
            <a:ext cx="896112" cy="27432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859020"/>
            <a:ext cx="8961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Calibri"/>
              </a:defRPr>
            </a:pPr>
            <a:r>
              <a:t>MODIFIED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84832" y="4846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Calibri"/>
              </a:defRPr>
            </a:pPr>
            <a:r>
              <a:t>Cliente pode editar pedidos PENDING (datas). Agente pode editar pedidos em análise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3035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Regras de Negócio Principais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623560"/>
            <a:ext cx="18288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806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Total = diária × dias   •   Máximo 3 empregadores por cliente   •   Placa única por veículo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60807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CPF/CNPJ únicos   •   Veículo indisponível durante aluguel ativo   •   Admin não pode se excluir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API REST —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51760" cy="12435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A623"/>
                </a:solidFill>
                <a:latin typeface="Calibri"/>
              </a:defRPr>
            </a:pPr>
            <a:r>
              <a:t>Autenticação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/api/auth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B82F6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65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/register/client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96596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Público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2199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B82F6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2199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/register/agent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221992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Público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47802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B82F6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47802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/login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478024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Público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371600"/>
            <a:ext cx="2651760" cy="153619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463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A623"/>
                </a:solidFill>
                <a:latin typeface="Calibri"/>
              </a:defRPr>
            </a:pPr>
            <a:r>
              <a:t>Veículos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169164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/api/vehicles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1965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C55E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65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196596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Disponíveis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222199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B82F6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22199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2221992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247802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5A623"/>
                </a:solidFill>
                <a:latin typeface="Calibri"/>
              </a:defRPr>
            </a:pPr>
            <a:r>
              <a:t>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247802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/{id}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2478024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273405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F4444"/>
                </a:solidFill>
                <a:latin typeface="Calibri"/>
              </a:defRPr>
            </a:pPr>
            <a:r>
              <a:t>DELETE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73405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/{id}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2734056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1371600"/>
            <a:ext cx="2651760" cy="270662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1463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A623"/>
                </a:solidFill>
                <a:latin typeface="Calibri"/>
              </a:defRPr>
            </a:pPr>
            <a:r>
              <a:t>Pedidos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169164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/api/rental-orders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1965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B82F6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1965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09560" y="196596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22199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C55E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222199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/my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2221992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47802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5A623"/>
                </a:solidFill>
                <a:latin typeface="Calibri"/>
              </a:defRPr>
            </a:pPr>
            <a:r>
              <a:t>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247802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/{id}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2478024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CLIENT/AGENT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73405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Calibri"/>
              </a:defRPr>
            </a:pPr>
            <a:r>
              <a:t>PATCH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273405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/{id}/cancel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2734056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99008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C55E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299008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/pending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2990088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2461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Calibri"/>
              </a:defRPr>
            </a:pPr>
            <a:r>
              <a:t>PATCH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0840" y="32461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/{id}/analyze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09560" y="324612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5021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Calibri"/>
              </a:defRPr>
            </a:pPr>
            <a:r>
              <a:t>PATCH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35021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/{id}/approve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9560" y="3502152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37581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78BFA"/>
                </a:solidFill>
                <a:latin typeface="Calibri"/>
              </a:defRPr>
            </a:pPr>
            <a:r>
              <a:t>PATCH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20840" y="375818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/{id}/reject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09560" y="3758184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61120" y="1371600"/>
            <a:ext cx="2651760" cy="153619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98280" y="1463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A623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98280" y="169164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/api/admin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98280" y="19659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C55E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55480" y="19659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/dashboard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44200" y="1965960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222199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C55E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55480" y="222199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/clients/{id}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744200" y="2221992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98280" y="247802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22C55E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555480" y="2478024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/agents/{id}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44200" y="2478024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98280" y="273405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F4444"/>
                </a:solidFill>
                <a:latin typeface="Calibri"/>
              </a:defRPr>
            </a:pPr>
            <a:r>
              <a:t>DELETE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55480" y="273405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CBD5E1"/>
                </a:solidFill>
                <a:latin typeface="Calibri"/>
              </a:defRPr>
            </a:pPr>
            <a:r>
              <a:t>/users/{id}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744200" y="2734056"/>
            <a:ext cx="777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94A3B8"/>
                </a:solidFill>
                <a:latin typeface="Calibri"/>
              </a:defRPr>
            </a:pPr>
            <a:r>
              <a:t>ADMIN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520" y="5120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Modelo de Segurança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31520" y="5440680"/>
            <a:ext cx="13716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" y="56235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A623"/>
                </a:solidFill>
                <a:latin typeface="Calibri"/>
              </a:defRPr>
            </a:pPr>
            <a:r>
              <a:t>JWT Bearer Token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94560" y="5623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Autenticação stateless via header Authorization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0" y="56235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A623"/>
                </a:solidFill>
                <a:latin typeface="Calibri"/>
              </a:defRPr>
            </a:pPr>
            <a:r>
              <a:t>BCrypt Hashing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120640" y="5623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Senhas armazenadas com hash + salt automático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0" y="56235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A623"/>
                </a:solidFill>
                <a:latin typeface="Calibri"/>
              </a:defRPr>
            </a:pPr>
            <a:r>
              <a:t>Role-Based Access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046720" y="5623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CLIENT, AGENT, ADMIN com @Secured por endpoint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09760" y="562356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A623"/>
                </a:solidFill>
                <a:latin typeface="Calibri"/>
              </a:defRPr>
            </a:pPr>
            <a:r>
              <a:t>CORS Configurado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72800" y="5623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Origens permitidas: localhost:5173, localhost:3000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Interface do Usuário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Aplicação SPA responsiva com dark mode, sidebar colapsável e componentes premium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47472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Páginas do Cliente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286000"/>
            <a:ext cx="9144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Resumo pessoal e estatísticas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Veículos Disponíveis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Catálogo com cards e imagens reais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Meus Pedidos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7947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Lista filtrada por status + detalhes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920240"/>
            <a:ext cx="347472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Calibri"/>
              </a:defRPr>
            </a:pPr>
            <a:r>
              <a:t>Páginas do Agente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2286000"/>
            <a:ext cx="9144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24688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6974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Métricas de gestão da empresa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0175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Gestão de Veículos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32461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CRUD com thumbnails de imagens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5661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Gestão de Pedidos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7947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Avaliação e aprovação/rejeição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920240"/>
            <a:ext cx="347472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011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Páginas do Admin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2286000"/>
            <a:ext cx="9144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4688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6974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Métricas globais + lista de usuários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0175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Detalhes Cliente/Agente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2461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Perfil completo + histórico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5661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Testes de Carga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7947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Sync vs Reactive em tempo real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754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Componentes &amp; Features Premium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074920"/>
            <a:ext cx="18288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257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✦  Sidebar Colapsável (hover expand)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5257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✦  Dark/Light Mode (persistido)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0" y="5257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✦  Imagens reais dos carros (imagin.studio)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5257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✦  Tipografia Racing Sans 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52578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✦  Modal de Confirmação (animado)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577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✦  Toast Notifications (auto-dismiss)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17520" y="5577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✦  Formulários com Validação (Zod)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03520" y="5577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✦  Badges de Status coloridos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5577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✦  Responsivo (Mobile-first)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5577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BD5E1"/>
                </a:solidFill>
                <a:latin typeface="Calibri"/>
              </a:defRPr>
            </a:pPr>
            <a:r>
              <a:t>  ✦  Edição de Perfil via Modal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Exemplos de Código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502920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alibri"/>
              </a:defRPr>
            </a:pPr>
            <a:r>
              <a:t>Backend — Micronaut 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A78BFA"/>
                </a:solidFill>
                <a:latin typeface="JetBrains Mono"/>
              </a:defRPr>
            </a:pPr>
            <a:r>
              <a:t>@Controller("/api/auth")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A78BFA"/>
                </a:solidFill>
                <a:latin typeface="JetBrains Mono"/>
              </a:defRPr>
            </a:pPr>
            <a:r>
              <a:t>@Secured(SecurityRule.IS_ANONYMOUS)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A78BFA"/>
                </a:solidFill>
                <a:latin typeface="JetBrains Mono"/>
              </a:defRPr>
            </a:pPr>
            <a:r>
              <a:t>@ExecuteOn(TaskExecutors.IO)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3B82F6"/>
                </a:solidFill>
                <a:latin typeface="JetBrains Mono"/>
              </a:defRPr>
            </a:pPr>
            <a:r>
              <a:t>public class AuthController {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CBD5E1"/>
                </a:solidFill>
                <a:latin typeface="JetBrains Mono"/>
              </a:defRPr>
            </a:pPr>
            <a:r>
              <a:t>    private final AuthService authService;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A78BFA"/>
                </a:solidFill>
                <a:latin typeface="JetBrains Mono"/>
              </a:defRPr>
            </a:pPr>
            <a:r>
              <a:t>    @Post("/login")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3B82F6"/>
                </a:solidFill>
                <a:latin typeface="JetBrains Mono"/>
              </a:defRPr>
            </a:pPr>
            <a:r>
              <a:t>    public HttpResponse&lt;AuthResponse&gt;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CBD5E1"/>
                </a:solidFill>
                <a:latin typeface="JetBrains Mono"/>
              </a:defRPr>
            </a:pPr>
            <a:r>
              <a:t>        login(@Valid @Body LoginRequest req) {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CBD5E1"/>
                </a:solidFill>
                <a:latin typeface="JetBrains Mono"/>
              </a:defRPr>
            </a:pPr>
            <a:r>
              <a:t>        return HttpResponse.ok(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FFFFFF"/>
                </a:solidFill>
                <a:latin typeface="JetBrains Mono"/>
              </a:defRPr>
            </a:pPr>
            <a:r>
              <a:t>            authService.login(req)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CBD5E1"/>
                </a:solidFill>
                <a:latin typeface="JetBrains Mono"/>
              </a:defRPr>
            </a:pPr>
            <a:r>
              <a:t>        );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CBD5E1"/>
                </a:solidFill>
                <a:latin typeface="JetBrains Mono"/>
              </a:defRPr>
            </a:pPr>
            <a:r>
              <a:t>    }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3B82F6"/>
                </a:solidFill>
                <a:latin typeface="JetBrains Mono"/>
              </a:defRPr>
            </a:pPr>
            <a:r>
              <a:t>}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94A3B8"/>
                </a:solidFill>
                <a:latin typeface="JetBrains Mono"/>
              </a:defRPr>
            </a:pPr>
            <a:r>
              <a:t>// SSE Reactive Endpoint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A78BFA"/>
                </a:solidFill>
                <a:latin typeface="JetBrains Mono"/>
              </a:defRPr>
            </a:pPr>
            <a:r>
              <a:t>@Post(value = "/run",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A78BFA"/>
                </a:solidFill>
                <a:latin typeface="JetBrains Mono"/>
              </a:defRPr>
            </a:pPr>
            <a:r>
              <a:t>    produces = TEXT_EVENT_STREAM)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3B82F6"/>
                </a:solidFill>
                <a:latin typeface="JetBrains Mono"/>
              </a:defRPr>
            </a:pPr>
            <a:r>
              <a:t>public Publisher&lt;Event&lt;LoadTestEvent&gt;&gt;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CBD5E1"/>
                </a:solidFill>
                <a:latin typeface="JetBrains Mono"/>
              </a:defRPr>
            </a:pPr>
            <a:r>
              <a:t>    runTest(@Body LoadTestRequest req) {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FFFFFF"/>
                </a:solidFill>
                <a:latin typeface="JetBrains Mono"/>
              </a:defRPr>
            </a:pPr>
            <a:r>
              <a:t>    return loadTestService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FFFFFF"/>
                </a:solidFill>
                <a:latin typeface="JetBrains Mono"/>
              </a:defRPr>
            </a:pPr>
            <a:r>
              <a:t>        .executeTest(req);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3B82F6"/>
                </a:solidFill>
                <a:latin typeface="JetBrains Mono"/>
              </a:defRPr>
            </a:pPr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03520" cy="5029200"/>
          </a:xfrm>
          <a:prstGeom prst="round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Frontend — React Component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94A3B8"/>
                </a:solidFill>
                <a:latin typeface="JetBrains Mono"/>
              </a:defRPr>
            </a:pPr>
            <a:r>
              <a:t>// Vehicle Card with Live Image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3B82F6"/>
                </a:solidFill>
                <a:latin typeface="JetBrains Mono"/>
              </a:defRPr>
            </a:pPr>
            <a:r>
              <a:t>&lt;div className="card group"&gt;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CBD5E1"/>
                </a:solidFill>
                <a:latin typeface="JetBrains Mono"/>
              </a:defRPr>
            </a:pPr>
            <a:r>
              <a:t>  &lt;div className="relative h-48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CBD5E1"/>
                </a:solidFill>
                <a:latin typeface="JetBrains Mono"/>
              </a:defRPr>
            </a:pPr>
            <a:r>
              <a:t>    bg-gradient-to-br ..."&gt;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A78BFA"/>
                </a:solidFill>
                <a:latin typeface="JetBrains Mono"/>
              </a:defRPr>
            </a:pPr>
            <a:r>
              <a:t>    &lt;img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FFFFFF"/>
                </a:solidFill>
                <a:latin typeface="JetBrains Mono"/>
              </a:defRPr>
            </a:pPr>
            <a:r>
              <a:t>      src={getCarImageUrl(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F5A623"/>
                </a:solidFill>
                <a:latin typeface="JetBrains Mono"/>
              </a:defRPr>
            </a:pPr>
            <a:r>
              <a:t>        vehicle.brand,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F5A623"/>
                </a:solidFill>
                <a:latin typeface="JetBrains Mono"/>
              </a:defRPr>
            </a:pPr>
            <a:r>
              <a:t>        vehicle.model,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F5A623"/>
                </a:solidFill>
                <a:latin typeface="JetBrains Mono"/>
              </a:defRPr>
            </a:pPr>
            <a:r>
              <a:t>        vehicle.year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FFFFFF"/>
                </a:solidFill>
                <a:latin typeface="JetBrains Mono"/>
              </a:defRPr>
            </a:pPr>
            <a:r>
              <a:t>      )}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CBD5E1"/>
                </a:solidFill>
                <a:latin typeface="JetBrains Mono"/>
              </a:defRPr>
            </a:pPr>
            <a:r>
              <a:t>      className="object-contain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CBD5E1"/>
                </a:solidFill>
                <a:latin typeface="JetBrains Mono"/>
              </a:defRPr>
            </a:pPr>
            <a:r>
              <a:t>        group-hover:scale-105"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A78BFA"/>
                </a:solidFill>
                <a:latin typeface="JetBrains Mono"/>
              </a:defRPr>
            </a:pPr>
            <a:r>
              <a:t>    /&gt;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3B82F6"/>
                </a:solidFill>
                <a:latin typeface="JetBrains Mono"/>
              </a:defRPr>
            </a:pPr>
            <a:r>
              <a:t>    &lt;h3 className="font-racing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3B82F6"/>
                </a:solidFill>
                <a:latin typeface="JetBrains Mono"/>
              </a:defRPr>
            </a:pPr>
            <a:r>
              <a:t>      text-xl drop-shadow-md"&gt;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F5A623"/>
                </a:solidFill>
                <a:latin typeface="JetBrains Mono"/>
              </a:defRPr>
            </a:pPr>
            <a:r>
              <a:t>      {vehicle.brand}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F5A623"/>
                </a:solidFill>
                <a:latin typeface="JetBrains Mono"/>
              </a:defRPr>
            </a:pPr>
            <a:r>
              <a:t>      {vehicle.model}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3B82F6"/>
                </a:solidFill>
                <a:latin typeface="JetBrains Mono"/>
              </a:defRPr>
            </a:pPr>
            <a:r>
              <a:t>    &lt;/h3&gt;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3B82F6"/>
                </a:solidFill>
                <a:latin typeface="JetBrains Mono"/>
              </a:defRPr>
            </a:pPr>
            <a:r>
              <a:t>  &lt;/div&gt;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3B82F6"/>
                </a:solidFill>
                <a:latin typeface="JetBrains Mono"/>
              </a:defRPr>
            </a:pPr>
            <a:r>
              <a:t>&lt;/div&gt;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Testes de Carga — Sync vs Reactive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7432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Calibri"/>
              </a:defRPr>
            </a:pPr>
            <a:r>
              <a:t>Feature exclusiva: comparação em tempo real entre abordagem Síncrona (blocking) e Reativa (non-blocking),</a:t>
            </a:r>
            <a:br/>
            <a:r>
              <a:t>com streaming via Server-Sent Events (SSE) e métricas detalhadas.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27432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Calibri"/>
              </a:defRPr>
            </a:pPr>
            <a:r>
              <a:t>Database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alibri"/>
              </a:defRPr>
            </a:pPr>
            <a:r>
              <a:t>Leitura massiva de veículos</a:t>
            </a:r>
            <a:br/>
            <a:r>
              <a:t>e pedidos no MongoDB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03120"/>
            <a:ext cx="27432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194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Calibri"/>
              </a:defRPr>
            </a:pPr>
            <a:r>
              <a:t>I/O Simulation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514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alibri"/>
              </a:defRPr>
            </a:pPr>
            <a:r>
              <a:t>Thread.sleep() vs Mono.delay()</a:t>
            </a:r>
            <a:br/>
            <a:r>
              <a:t>para simular latência I/O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03120"/>
            <a:ext cx="27432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Calibri"/>
              </a:defRPr>
            </a:pPr>
            <a:r>
              <a:t>Concurrent 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14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alibri"/>
              </a:defRPr>
            </a:pPr>
            <a:r>
              <a:t>Database reads + delays</a:t>
            </a:r>
            <a:br/>
            <a:r>
              <a:t>com alta concorrência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103120"/>
            <a:ext cx="274320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2194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B82F6"/>
                </a:solidFill>
                <a:latin typeface="Calibri"/>
              </a:defRPr>
            </a:pPr>
            <a:r>
              <a:t>Mixed Workload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25146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BD5E1"/>
                </a:solidFill>
                <a:latin typeface="Calibri"/>
              </a:defRPr>
            </a:pPr>
            <a:r>
              <a:t>Reads + delays + CPU burn</a:t>
            </a:r>
            <a:br/>
            <a:r>
              <a:t>cenário mais realista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74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Métricas Coletadas (por abordagem)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94760"/>
            <a:ext cx="18288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50292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⚡ Síncrono (Blocking)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Thread por request (pool limitado)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Thread.sleep() bloqueia a thread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Alto consumo de memória sob carga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Throughput limitado pelo pool size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Latência P99 significativamente maior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023360"/>
            <a:ext cx="53035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114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⚡ Reativo (Non-Blocking)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348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Event loop com poucos threads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Mono.delay() libera a thread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Baixo footprint de memória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Throughput escala com I/O paralelo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•  Latência consistente em altas cargas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Deploy &amp; Infraestrutura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A623"/>
                </a:solidFill>
                <a:latin typeface="Calibri"/>
              </a:defRPr>
            </a:pPr>
            <a:r>
              <a:t>Desenvolvimento Local —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1920240"/>
            <a:ext cx="109728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480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Container 1: MongoDB 7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Porta 27017  •  Volume persistente  •  Healthcheck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A78BFA"/>
                </a:solidFill>
                <a:latin typeface="Calibri"/>
              </a:defRPr>
            </a:pPr>
            <a:r>
              <a:t>Container 2: Backend (Micronaut)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Porta 8080  •  Java 21 JRE  •  Depends: mongo healthy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ENV: MONGODB_URI, JWT_SECRET, JWT_EXPIRATION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3B82F6"/>
                </a:solidFill>
                <a:latin typeface="Calibri"/>
              </a:defRPr>
            </a:pPr>
            <a:r>
              <a:t>Container 3: Frontend (Nginx)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Porta 3000  •  Nginx Alpine  •  React build estático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defRPr sz="1000" b="0">
                <a:solidFill>
                  <a:srgbClr val="94A3B8"/>
                </a:solidFill>
                <a:latin typeface="Calibri"/>
              </a:defRPr>
            </a:pPr>
            <a:r>
              <a:t>  Proxy reverso para API  •  Depends: backend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F5A623"/>
                </a:solidFill>
                <a:latin typeface="Calibri"/>
              </a:defRPr>
            </a:pPr>
            <a:r>
              <a:t>Comandos: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JetBrains Mono"/>
              </a:defRPr>
            </a:pPr>
            <a:r>
              <a:t>  docker compose up -d --build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JetBrains Mono"/>
              </a:defRPr>
            </a:pPr>
            <a:r>
              <a:t>  docker compose 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Produção — AWS Cloud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920240"/>
            <a:ext cx="10972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400" b="0">
                <a:solidFill>
                  <a:srgbClr val="CBD5E1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3B82F6"/>
                </a:solidFill>
                <a:latin typeface="Calibri"/>
              </a:defRPr>
            </a:pPr>
            <a:r>
              <a:t>Rede &amp; CDN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Route53 (DNS) → CloudFront (CDN + TLS)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Application Load Balancer (ALB)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A78BFA"/>
                </a:solidFill>
                <a:latin typeface="Calibri"/>
              </a:defRPr>
            </a:pPr>
            <a:r>
              <a:t>Compute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ECS Fargate (Serverless Containers)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Frontend: 512 CPU, 1GB RAM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Backend: 1024 CPU, 2GB RAM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22C55E"/>
                </a:solidFill>
                <a:latin typeface="Calibri"/>
              </a:defRPr>
            </a:pPr>
            <a:r>
              <a:t>Banco de Dados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Amazon DocumentDB (MongoDB-compatible)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Primary + Read Replica (sa-east-1)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5A623"/>
                </a:solidFill>
                <a:latin typeface="Calibri"/>
              </a:defRPr>
            </a:pPr>
            <a:r>
              <a:t>Suporte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  ECR (Registry) • Secrets Manager • CloudWatch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8495" y="-1828800"/>
            <a:ext cx="4572000" cy="4572000"/>
          </a:xfrm>
          <a:prstGeom prst="ellipse">
            <a:avLst/>
          </a:prstGeom>
          <a:solidFill>
            <a:srgbClr val="1A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5A623"/>
                </a:solidFill>
                <a:latin typeface="Calibri"/>
              </a:defRPr>
            </a:pPr>
            <a:r>
              <a:t>RentaCar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2697480"/>
            <a:ext cx="2286000" cy="381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Plataforma Inteligente de Locação de Veículos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Sistema completo com arquitetura moderna, segurança robusta,</a:t>
            </a:r>
            <a:br/>
            <a:r>
              <a:t>interface premium e performance reativa comprovada.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5029200"/>
            <a:ext cx="818388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5041900"/>
            <a:ext cx="8183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A623"/>
                </a:solidFill>
                <a:latin typeface="Calibri"/>
              </a:defRPr>
            </a:pPr>
            <a:r>
              <a:t>Java 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7268" y="5029200"/>
            <a:ext cx="973836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87268" y="5041900"/>
            <a:ext cx="9738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A623"/>
                </a:solidFill>
                <a:latin typeface="Calibri"/>
              </a:defRPr>
            </a:pPr>
            <a:r>
              <a:t>Micronaut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4" y="5029200"/>
            <a:ext cx="818388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4" y="5041900"/>
            <a:ext cx="8183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A623"/>
                </a:solidFill>
                <a:latin typeface="Calibri"/>
              </a:defRPr>
            </a:pPr>
            <a:r>
              <a:t>MongoDB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5252" y="5029200"/>
            <a:ext cx="66294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45252" y="5041900"/>
            <a:ext cx="6629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A623"/>
                </a:solidFill>
                <a:latin typeface="Calibri"/>
              </a:defRPr>
            </a:pPr>
            <a:r>
              <a:t>React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5029200"/>
            <a:ext cx="1051560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504190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A623"/>
                </a:solidFill>
                <a:latin typeface="Calibri"/>
              </a:defRPr>
            </a:pPr>
            <a:r>
              <a:t>TypeScript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25512" y="5029200"/>
            <a:ext cx="740664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25512" y="5041900"/>
            <a:ext cx="7406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A623"/>
                </a:solidFill>
                <a:latin typeface="Calibri"/>
              </a:defRPr>
            </a:pPr>
            <a:r>
              <a:t>Docker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49056" y="5029200"/>
            <a:ext cx="507491" cy="274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9056" y="5041900"/>
            <a:ext cx="5074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A623"/>
                </a:solidFill>
                <a:latin typeface="Calibri"/>
              </a:defRPr>
            </a:pPr>
            <a:r>
              <a:t>AWS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Obrigado!  •  Laboratório de Desenvolvimento de Software  • 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